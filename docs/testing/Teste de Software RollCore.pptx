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Berkshire Swash" charset="1" panose="02000505000000020003"/>
      <p:regular r:id="rId20"/>
    </p:embeddedFont>
    <p:embeddedFont>
      <p:font typeface="Red Hat Display" charset="1" panose="020105030402010603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4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57.jpeg" Type="http://schemas.openxmlformats.org/officeDocument/2006/relationships/image"/><Relationship Id="rId5" Target="../media/VAHLRkpuQKA.mp4" Type="http://schemas.openxmlformats.org/officeDocument/2006/relationships/video"/><Relationship Id="rId6" Target="../media/VAHLRkpuQKA.mp4" Type="http://schemas.microsoft.com/office/2007/relationships/media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62.png" Type="http://schemas.openxmlformats.org/officeDocument/2006/relationships/image"/><Relationship Id="rId7" Target="../media/image63.svg" Type="http://schemas.openxmlformats.org/officeDocument/2006/relationships/image"/><Relationship Id="rId8" Target="../media/image64.png" Type="http://schemas.openxmlformats.org/officeDocument/2006/relationships/image"/><Relationship Id="rId9" Target="../media/image6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755580">
            <a:off x="-3911965" y="5264772"/>
            <a:ext cx="14497469" cy="9588808"/>
          </a:xfrm>
          <a:custGeom>
            <a:avLst/>
            <a:gdLst/>
            <a:ahLst/>
            <a:cxnLst/>
            <a:rect r="r" b="b" t="t" l="l"/>
            <a:pathLst>
              <a:path h="9588808" w="14497469">
                <a:moveTo>
                  <a:pt x="0" y="0"/>
                </a:moveTo>
                <a:lnTo>
                  <a:pt x="14497469" y="0"/>
                </a:lnTo>
                <a:lnTo>
                  <a:pt x="14497469" y="9588808"/>
                </a:lnTo>
                <a:lnTo>
                  <a:pt x="0" y="958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2" r="0" b="-1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26100">
            <a:off x="12260761" y="-3229537"/>
            <a:ext cx="10279428" cy="7680007"/>
          </a:xfrm>
          <a:custGeom>
            <a:avLst/>
            <a:gdLst/>
            <a:ahLst/>
            <a:cxnLst/>
            <a:rect r="r" b="b" t="t" l="l"/>
            <a:pathLst>
              <a:path h="7680007" w="10279428">
                <a:moveTo>
                  <a:pt x="0" y="0"/>
                </a:moveTo>
                <a:lnTo>
                  <a:pt x="10279428" y="0"/>
                </a:lnTo>
                <a:lnTo>
                  <a:pt x="10279428" y="7680008"/>
                </a:lnTo>
                <a:lnTo>
                  <a:pt x="0" y="7680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50" t="0" r="-115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1133">
            <a:off x="12500551" y="8265426"/>
            <a:ext cx="6664959" cy="3077995"/>
          </a:xfrm>
          <a:custGeom>
            <a:avLst/>
            <a:gdLst/>
            <a:ahLst/>
            <a:cxnLst/>
            <a:rect r="r" b="b" t="t" l="l"/>
            <a:pathLst>
              <a:path h="3077995" w="6664959">
                <a:moveTo>
                  <a:pt x="0" y="0"/>
                </a:moveTo>
                <a:lnTo>
                  <a:pt x="6664959" y="0"/>
                </a:lnTo>
                <a:lnTo>
                  <a:pt x="6664959" y="3077995"/>
                </a:lnTo>
                <a:lnTo>
                  <a:pt x="0" y="30779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73" r="0" b="-73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2603554" y="5561390"/>
            <a:ext cx="4711970" cy="4497791"/>
          </a:xfrm>
          <a:custGeom>
            <a:avLst/>
            <a:gdLst/>
            <a:ahLst/>
            <a:cxnLst/>
            <a:rect r="r" b="b" t="t" l="l"/>
            <a:pathLst>
              <a:path h="4497791" w="4711970">
                <a:moveTo>
                  <a:pt x="4711970" y="0"/>
                </a:moveTo>
                <a:lnTo>
                  <a:pt x="0" y="0"/>
                </a:lnTo>
                <a:lnTo>
                  <a:pt x="0" y="4497791"/>
                </a:lnTo>
                <a:lnTo>
                  <a:pt x="4711970" y="4497791"/>
                </a:lnTo>
                <a:lnTo>
                  <a:pt x="471197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52" r="0" b="-5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438480">
            <a:off x="1647654" y="2184149"/>
            <a:ext cx="5488657" cy="4620454"/>
          </a:xfrm>
          <a:custGeom>
            <a:avLst/>
            <a:gdLst/>
            <a:ahLst/>
            <a:cxnLst/>
            <a:rect r="r" b="b" t="t" l="l"/>
            <a:pathLst>
              <a:path h="4620454" w="5488657">
                <a:moveTo>
                  <a:pt x="0" y="0"/>
                </a:moveTo>
                <a:lnTo>
                  <a:pt x="5488657" y="0"/>
                </a:lnTo>
                <a:lnTo>
                  <a:pt x="5488657" y="4620454"/>
                </a:lnTo>
                <a:lnTo>
                  <a:pt x="0" y="4620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30" r="0" b="-13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92679" y="1417142"/>
            <a:ext cx="6058118" cy="6703312"/>
          </a:xfrm>
          <a:custGeom>
            <a:avLst/>
            <a:gdLst/>
            <a:ahLst/>
            <a:cxnLst/>
            <a:rect r="r" b="b" t="t" l="l"/>
            <a:pathLst>
              <a:path h="6703312" w="6058118">
                <a:moveTo>
                  <a:pt x="0" y="0"/>
                </a:moveTo>
                <a:lnTo>
                  <a:pt x="6058118" y="0"/>
                </a:lnTo>
                <a:lnTo>
                  <a:pt x="6058118" y="6703312"/>
                </a:lnTo>
                <a:lnTo>
                  <a:pt x="0" y="67033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62753" y="3458213"/>
            <a:ext cx="11904802" cy="11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Teste de Software</a:t>
            </a:r>
          </a:p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ROllCore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6839564">
            <a:off x="16712554" y="-4082538"/>
            <a:ext cx="2257112" cy="8995737"/>
          </a:xfrm>
          <a:custGeom>
            <a:avLst/>
            <a:gdLst/>
            <a:ahLst/>
            <a:cxnLst/>
            <a:rect r="r" b="b" t="t" l="l"/>
            <a:pathLst>
              <a:path h="8995737" w="2257112">
                <a:moveTo>
                  <a:pt x="0" y="0"/>
                </a:moveTo>
                <a:lnTo>
                  <a:pt x="2257112" y="0"/>
                </a:lnTo>
                <a:lnTo>
                  <a:pt x="2257112" y="8995737"/>
                </a:lnTo>
                <a:lnTo>
                  <a:pt x="0" y="89957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132113">
            <a:off x="-689022" y="4757551"/>
            <a:ext cx="3004884" cy="5839880"/>
          </a:xfrm>
          <a:custGeom>
            <a:avLst/>
            <a:gdLst/>
            <a:ahLst/>
            <a:cxnLst/>
            <a:rect r="r" b="b" t="t" l="l"/>
            <a:pathLst>
              <a:path h="5839880" w="3004884">
                <a:moveTo>
                  <a:pt x="0" y="0"/>
                </a:moveTo>
                <a:lnTo>
                  <a:pt x="3004884" y="0"/>
                </a:lnTo>
                <a:lnTo>
                  <a:pt x="3004884" y="5839879"/>
                </a:lnTo>
                <a:lnTo>
                  <a:pt x="0" y="58398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532002" y="6300318"/>
            <a:ext cx="9784270" cy="57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9"/>
              </a:lnSpc>
            </a:pPr>
            <a:r>
              <a:rPr lang="en-US" sz="3021" spc="163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GRUPO 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282900">
            <a:off x="-4276277" y="-3840004"/>
            <a:ext cx="10279428" cy="7680007"/>
          </a:xfrm>
          <a:custGeom>
            <a:avLst/>
            <a:gdLst/>
            <a:ahLst/>
            <a:cxnLst/>
            <a:rect r="r" b="b" t="t" l="l"/>
            <a:pathLst>
              <a:path h="7680007" w="10279428">
                <a:moveTo>
                  <a:pt x="0" y="0"/>
                </a:moveTo>
                <a:lnTo>
                  <a:pt x="10279427" y="0"/>
                </a:lnTo>
                <a:lnTo>
                  <a:pt x="10279427" y="7680008"/>
                </a:lnTo>
                <a:lnTo>
                  <a:pt x="0" y="7680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150" t="0" r="-11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63459" y="1619250"/>
            <a:ext cx="12161072" cy="1062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10879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Visão Geral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346188" y="3253123"/>
            <a:ext cx="2204704" cy="2262292"/>
          </a:xfrm>
          <a:custGeom>
            <a:avLst/>
            <a:gdLst/>
            <a:ahLst/>
            <a:cxnLst/>
            <a:rect r="r" b="b" t="t" l="l"/>
            <a:pathLst>
              <a:path h="2262292" w="2204704">
                <a:moveTo>
                  <a:pt x="0" y="0"/>
                </a:moveTo>
                <a:lnTo>
                  <a:pt x="2204704" y="0"/>
                </a:lnTo>
                <a:lnTo>
                  <a:pt x="2204704" y="2262293"/>
                </a:lnTo>
                <a:lnTo>
                  <a:pt x="0" y="2262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2" t="0" r="-1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4100">
            <a:off x="10010565" y="5217652"/>
            <a:ext cx="14497469" cy="9588808"/>
          </a:xfrm>
          <a:custGeom>
            <a:avLst/>
            <a:gdLst/>
            <a:ahLst/>
            <a:cxnLst/>
            <a:rect r="r" b="b" t="t" l="l"/>
            <a:pathLst>
              <a:path h="9588808" w="14497469">
                <a:moveTo>
                  <a:pt x="0" y="0"/>
                </a:moveTo>
                <a:lnTo>
                  <a:pt x="14497470" y="0"/>
                </a:lnTo>
                <a:lnTo>
                  <a:pt x="14497470" y="9588808"/>
                </a:lnTo>
                <a:lnTo>
                  <a:pt x="0" y="95888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32" r="0" b="-13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71463" y="5997966"/>
            <a:ext cx="4354154" cy="105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9"/>
              </a:lnSpc>
            </a:pPr>
            <a:r>
              <a:rPr lang="en-US" sz="4867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Introdução e HUs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8677" y="5997966"/>
            <a:ext cx="4810646" cy="117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9"/>
              </a:lnSpc>
            </a:pPr>
            <a:r>
              <a:rPr lang="en-US" sz="4867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Testes &amp; Resultados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92230" y="5997966"/>
            <a:ext cx="4354154" cy="1051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9"/>
              </a:lnSpc>
            </a:pPr>
            <a:r>
              <a:rPr lang="en-US" sz="4867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Conclusão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846417" y="3514836"/>
            <a:ext cx="2595147" cy="2231826"/>
          </a:xfrm>
          <a:custGeom>
            <a:avLst/>
            <a:gdLst/>
            <a:ahLst/>
            <a:cxnLst/>
            <a:rect r="r" b="b" t="t" l="l"/>
            <a:pathLst>
              <a:path h="2231826" w="2595147">
                <a:moveTo>
                  <a:pt x="0" y="0"/>
                </a:moveTo>
                <a:lnTo>
                  <a:pt x="2595147" y="0"/>
                </a:lnTo>
                <a:lnTo>
                  <a:pt x="2595147" y="2231826"/>
                </a:lnTo>
                <a:lnTo>
                  <a:pt x="0" y="2231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35449" y="3021877"/>
            <a:ext cx="1867716" cy="2724785"/>
          </a:xfrm>
          <a:custGeom>
            <a:avLst/>
            <a:gdLst/>
            <a:ahLst/>
            <a:cxnLst/>
            <a:rect r="r" b="b" t="t" l="l"/>
            <a:pathLst>
              <a:path h="2724785" w="1867716">
                <a:moveTo>
                  <a:pt x="0" y="0"/>
                </a:moveTo>
                <a:lnTo>
                  <a:pt x="1867716" y="0"/>
                </a:lnTo>
                <a:lnTo>
                  <a:pt x="1867716" y="2724785"/>
                </a:lnTo>
                <a:lnTo>
                  <a:pt x="0" y="2724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701" y="8991724"/>
            <a:ext cx="18691403" cy="3526165"/>
          </a:xfrm>
          <a:custGeom>
            <a:avLst/>
            <a:gdLst/>
            <a:ahLst/>
            <a:cxnLst/>
            <a:rect r="r" b="b" t="t" l="l"/>
            <a:pathLst>
              <a:path h="3526165" w="18691403">
                <a:moveTo>
                  <a:pt x="0" y="0"/>
                </a:moveTo>
                <a:lnTo>
                  <a:pt x="18691402" y="0"/>
                </a:lnTo>
                <a:lnTo>
                  <a:pt x="18691402" y="3526164"/>
                </a:lnTo>
                <a:lnTo>
                  <a:pt x="0" y="3526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94865" y="3282582"/>
            <a:ext cx="4298271" cy="6735175"/>
          </a:xfrm>
          <a:custGeom>
            <a:avLst/>
            <a:gdLst/>
            <a:ahLst/>
            <a:cxnLst/>
            <a:rect r="r" b="b" t="t" l="l"/>
            <a:pathLst>
              <a:path h="6735175" w="4298271">
                <a:moveTo>
                  <a:pt x="0" y="0"/>
                </a:moveTo>
                <a:lnTo>
                  <a:pt x="4298270" y="0"/>
                </a:lnTo>
                <a:lnTo>
                  <a:pt x="4298270" y="6735175"/>
                </a:lnTo>
                <a:lnTo>
                  <a:pt x="0" y="6735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8" t="0" r="-1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06691" y="1264187"/>
            <a:ext cx="13474627" cy="99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6"/>
              </a:lnSpc>
            </a:pPr>
            <a:r>
              <a:rPr lang="en-US" sz="10435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O Projeto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545" y="3222641"/>
            <a:ext cx="6945420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01 | Plataforma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6957" y="3725132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Plataforma digital para jogadores de RPG de mesa: fichas de personagem, rolagem de dados virtuais e regras D&amp;D 5e automatizadas.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545" y="6231007"/>
            <a:ext cx="6945420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02 | Tecnologias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6957" y="6733489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Backend: Java + Spring Boot. Testes: JUnit 5, Mockito, Postman/Newman, Playwright. Frontend: React.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47349" y="3196828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03 | Repositório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47349" y="3725132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github.com/Takesh0s/RollCore — repositório público com commits de todos os integrantes.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7349" y="6231007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04 | Equipe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47349" y="6733489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Grupo 8 — cada integrante realizou ao menos um commit ou branch conforme requisitos da atividade.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24393" y="794122"/>
            <a:ext cx="11273332" cy="107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4"/>
              </a:lnSpc>
            </a:pPr>
            <a:r>
              <a:rPr lang="en-US" sz="8675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Histórias de Usuário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94100">
            <a:off x="9947815" y="5291109"/>
            <a:ext cx="11958857" cy="7293264"/>
          </a:xfrm>
          <a:custGeom>
            <a:avLst/>
            <a:gdLst/>
            <a:ahLst/>
            <a:cxnLst/>
            <a:rect r="r" b="b" t="t" l="l"/>
            <a:pathLst>
              <a:path h="7293264" w="11958857">
                <a:moveTo>
                  <a:pt x="0" y="0"/>
                </a:moveTo>
                <a:lnTo>
                  <a:pt x="11958856" y="0"/>
                </a:lnTo>
                <a:lnTo>
                  <a:pt x="11958856" y="7293264"/>
                </a:lnTo>
                <a:lnTo>
                  <a:pt x="0" y="729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374" r="0" b="-4374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843992" y="2322614"/>
            <a:ext cx="8249564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HU-01 | Autenticação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43992" y="2850918"/>
            <a:ext cx="7715650" cy="13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Como usuário, quero me registrar e fazer login para acessar o sistema com segurança via tokens JWT. (8 testes de controller + 4 E2E + 3 Postman)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43992" y="4892135"/>
            <a:ext cx="8249564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HU-02 | Personagem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43992" y="5420439"/>
            <a:ext cx="7715650" cy="13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Como usuário, quero criar e gerenciar fichas de personagem D&amp;D 5e com atributos, magias e regras calculadas automaticamente. (7 controller + 43 engine + 21 serviço + 9 magias + 2 E2E)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282900">
            <a:off x="-2906001" y="-1191635"/>
            <a:ext cx="8063417" cy="5469226"/>
          </a:xfrm>
          <a:custGeom>
            <a:avLst/>
            <a:gdLst/>
            <a:ahLst/>
            <a:cxnLst/>
            <a:rect r="r" b="b" t="t" l="l"/>
            <a:pathLst>
              <a:path h="5469226" w="8063417">
                <a:moveTo>
                  <a:pt x="0" y="0"/>
                </a:moveTo>
                <a:lnTo>
                  <a:pt x="8063417" y="0"/>
                </a:lnTo>
                <a:lnTo>
                  <a:pt x="8063417" y="5469227"/>
                </a:lnTo>
                <a:lnTo>
                  <a:pt x="0" y="546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872" r="0" b="-3872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76598" y="1206303"/>
            <a:ext cx="6368396" cy="8051997"/>
          </a:xfrm>
          <a:custGeom>
            <a:avLst/>
            <a:gdLst/>
            <a:ahLst/>
            <a:cxnLst/>
            <a:rect r="r" b="b" t="t" l="l"/>
            <a:pathLst>
              <a:path h="8051997" w="6368396">
                <a:moveTo>
                  <a:pt x="0" y="0"/>
                </a:moveTo>
                <a:lnTo>
                  <a:pt x="6368396" y="0"/>
                </a:lnTo>
                <a:lnTo>
                  <a:pt x="6368396" y="8051997"/>
                </a:lnTo>
                <a:lnTo>
                  <a:pt x="0" y="8051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6" t="0" r="-66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97541" y="7341486"/>
            <a:ext cx="6587579" cy="54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4"/>
              </a:lnSpc>
            </a:pPr>
            <a:r>
              <a:rPr lang="en-US" sz="4400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HU-03 | Rolagem de Dados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25251" y="7989282"/>
            <a:ext cx="8153133" cy="169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2"/>
              </a:lnSpc>
            </a:pPr>
            <a:r>
              <a:rPr lang="en-US" sz="2255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Como usuário, quero rolar dados virtuais (D4, D6, D8, D10, D12, D20, D100) e fórmulas personalizadas como 2d6+3, com histórico das últimas 50 rolagens. (15 testes unitários + 1 E2E + 2 Postman)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813307" y="3041604"/>
            <a:ext cx="2285715" cy="2549987"/>
          </a:xfrm>
          <a:custGeom>
            <a:avLst/>
            <a:gdLst/>
            <a:ahLst/>
            <a:cxnLst/>
            <a:rect r="r" b="b" t="t" l="l"/>
            <a:pathLst>
              <a:path h="2549987" w="2285715">
                <a:moveTo>
                  <a:pt x="0" y="0"/>
                </a:moveTo>
                <a:lnTo>
                  <a:pt x="2285715" y="0"/>
                </a:lnTo>
                <a:lnTo>
                  <a:pt x="2285715" y="2549987"/>
                </a:lnTo>
                <a:lnTo>
                  <a:pt x="0" y="25499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80020">
            <a:off x="-6182658" y="5492601"/>
            <a:ext cx="14497469" cy="9588808"/>
          </a:xfrm>
          <a:custGeom>
            <a:avLst/>
            <a:gdLst/>
            <a:ahLst/>
            <a:cxnLst/>
            <a:rect r="r" b="b" t="t" l="l"/>
            <a:pathLst>
              <a:path h="9588808" w="14497469">
                <a:moveTo>
                  <a:pt x="0" y="0"/>
                </a:moveTo>
                <a:lnTo>
                  <a:pt x="14497469" y="0"/>
                </a:lnTo>
                <a:lnTo>
                  <a:pt x="14497469" y="9588808"/>
                </a:lnTo>
                <a:lnTo>
                  <a:pt x="0" y="95888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2" r="0" b="-13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65060">
            <a:off x="12772882" y="-3840004"/>
            <a:ext cx="10279428" cy="7680007"/>
          </a:xfrm>
          <a:custGeom>
            <a:avLst/>
            <a:gdLst/>
            <a:ahLst/>
            <a:cxnLst/>
            <a:rect r="r" b="b" t="t" l="l"/>
            <a:pathLst>
              <a:path h="7680007" w="10279428">
                <a:moveTo>
                  <a:pt x="0" y="0"/>
                </a:moveTo>
                <a:lnTo>
                  <a:pt x="10279428" y="0"/>
                </a:lnTo>
                <a:lnTo>
                  <a:pt x="10279428" y="7680008"/>
                </a:lnTo>
                <a:lnTo>
                  <a:pt x="0" y="7680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50" t="0" r="-115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7751" y="4389061"/>
            <a:ext cx="4947139" cy="1508877"/>
          </a:xfrm>
          <a:custGeom>
            <a:avLst/>
            <a:gdLst/>
            <a:ahLst/>
            <a:cxnLst/>
            <a:rect r="r" b="b" t="t" l="l"/>
            <a:pathLst>
              <a:path h="1508877" w="4947139">
                <a:moveTo>
                  <a:pt x="0" y="0"/>
                </a:moveTo>
                <a:lnTo>
                  <a:pt x="4947140" y="0"/>
                </a:lnTo>
                <a:lnTo>
                  <a:pt x="4947140" y="1508878"/>
                </a:lnTo>
                <a:lnTo>
                  <a:pt x="0" y="1508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89019" y="4309522"/>
            <a:ext cx="5591227" cy="1588417"/>
          </a:xfrm>
          <a:custGeom>
            <a:avLst/>
            <a:gdLst/>
            <a:ahLst/>
            <a:cxnLst/>
            <a:rect r="r" b="b" t="t" l="l"/>
            <a:pathLst>
              <a:path h="1588417" w="5591227">
                <a:moveTo>
                  <a:pt x="0" y="0"/>
                </a:moveTo>
                <a:lnTo>
                  <a:pt x="5591227" y="0"/>
                </a:lnTo>
                <a:lnTo>
                  <a:pt x="5591227" y="1588417"/>
                </a:lnTo>
                <a:lnTo>
                  <a:pt x="0" y="15884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2402" y="6712681"/>
            <a:ext cx="4742672" cy="1963466"/>
          </a:xfrm>
          <a:custGeom>
            <a:avLst/>
            <a:gdLst/>
            <a:ahLst/>
            <a:cxnLst/>
            <a:rect r="r" b="b" t="t" l="l"/>
            <a:pathLst>
              <a:path h="1963466" w="4742672">
                <a:moveTo>
                  <a:pt x="0" y="0"/>
                </a:moveTo>
                <a:lnTo>
                  <a:pt x="4742672" y="0"/>
                </a:lnTo>
                <a:lnTo>
                  <a:pt x="4742672" y="1963467"/>
                </a:lnTo>
                <a:lnTo>
                  <a:pt x="0" y="1963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60188" y="4396484"/>
            <a:ext cx="4947292" cy="1501454"/>
          </a:xfrm>
          <a:custGeom>
            <a:avLst/>
            <a:gdLst/>
            <a:ahLst/>
            <a:cxnLst/>
            <a:rect r="r" b="b" t="t" l="l"/>
            <a:pathLst>
              <a:path h="1501454" w="4947292">
                <a:moveTo>
                  <a:pt x="0" y="0"/>
                </a:moveTo>
                <a:lnTo>
                  <a:pt x="4947292" y="0"/>
                </a:lnTo>
                <a:lnTo>
                  <a:pt x="4947292" y="1501455"/>
                </a:lnTo>
                <a:lnTo>
                  <a:pt x="0" y="150145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84104" y="4903668"/>
            <a:ext cx="5581492" cy="5581492"/>
          </a:xfrm>
          <a:custGeom>
            <a:avLst/>
            <a:gdLst/>
            <a:ahLst/>
            <a:cxnLst/>
            <a:rect r="r" b="b" t="t" l="l"/>
            <a:pathLst>
              <a:path h="5581492" w="5581492">
                <a:moveTo>
                  <a:pt x="0" y="0"/>
                </a:moveTo>
                <a:lnTo>
                  <a:pt x="5581492" y="0"/>
                </a:lnTo>
                <a:lnTo>
                  <a:pt x="5581492" y="5581493"/>
                </a:lnTo>
                <a:lnTo>
                  <a:pt x="0" y="558149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98399" y="5897939"/>
            <a:ext cx="3981240" cy="3981240"/>
          </a:xfrm>
          <a:custGeom>
            <a:avLst/>
            <a:gdLst/>
            <a:ahLst/>
            <a:cxnLst/>
            <a:rect r="r" b="b" t="t" l="l"/>
            <a:pathLst>
              <a:path h="3981240" w="3981240">
                <a:moveTo>
                  <a:pt x="0" y="0"/>
                </a:moveTo>
                <a:lnTo>
                  <a:pt x="3981241" y="0"/>
                </a:lnTo>
                <a:lnTo>
                  <a:pt x="3981241" y="3981240"/>
                </a:lnTo>
                <a:lnTo>
                  <a:pt x="0" y="39812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674524" y="6657215"/>
            <a:ext cx="2462689" cy="2462689"/>
          </a:xfrm>
          <a:custGeom>
            <a:avLst/>
            <a:gdLst/>
            <a:ahLst/>
            <a:cxnLst/>
            <a:rect r="r" b="b" t="t" l="l"/>
            <a:pathLst>
              <a:path h="2462689" w="2462689">
                <a:moveTo>
                  <a:pt x="0" y="0"/>
                </a:moveTo>
                <a:lnTo>
                  <a:pt x="2462689" y="0"/>
                </a:lnTo>
                <a:lnTo>
                  <a:pt x="2462689" y="2462688"/>
                </a:lnTo>
                <a:lnTo>
                  <a:pt x="0" y="24626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63738" y="1304925"/>
            <a:ext cx="12760523" cy="125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84"/>
              </a:lnSpc>
            </a:pPr>
            <a:r>
              <a:rPr lang="en-US" sz="10092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Ferramentas Utilizadas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067433" y="2674092"/>
            <a:ext cx="8153133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1"/>
              </a:lnSpc>
            </a:pPr>
            <a:r>
              <a:rPr lang="en-US" sz="2354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JUnit 5 + Mockito — testes unitários e de controller. Spring WebMvcTest — camada web. Postman/Newman — API em ambiente real. Playwright (Chromium) — testes End-to-End.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4100">
            <a:off x="9947815" y="5291109"/>
            <a:ext cx="11958857" cy="7293264"/>
          </a:xfrm>
          <a:custGeom>
            <a:avLst/>
            <a:gdLst/>
            <a:ahLst/>
            <a:cxnLst/>
            <a:rect r="r" b="b" t="t" l="l"/>
            <a:pathLst>
              <a:path h="7293264" w="11958857">
                <a:moveTo>
                  <a:pt x="0" y="0"/>
                </a:moveTo>
                <a:lnTo>
                  <a:pt x="11958856" y="0"/>
                </a:lnTo>
                <a:lnTo>
                  <a:pt x="11958856" y="7293264"/>
                </a:lnTo>
                <a:lnTo>
                  <a:pt x="0" y="729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374" r="0" b="-43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282900">
            <a:off x="-2906001" y="-1191635"/>
            <a:ext cx="8063417" cy="5469226"/>
          </a:xfrm>
          <a:custGeom>
            <a:avLst/>
            <a:gdLst/>
            <a:ahLst/>
            <a:cxnLst/>
            <a:rect r="r" b="b" t="t" l="l"/>
            <a:pathLst>
              <a:path h="5469226" w="8063417">
                <a:moveTo>
                  <a:pt x="0" y="0"/>
                </a:moveTo>
                <a:lnTo>
                  <a:pt x="8063417" y="0"/>
                </a:lnTo>
                <a:lnTo>
                  <a:pt x="8063417" y="5469227"/>
                </a:lnTo>
                <a:lnTo>
                  <a:pt x="0" y="546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872" r="0" b="-387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56156" y="3852491"/>
            <a:ext cx="11975687" cy="262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Testes &amp; Resultados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560466">
            <a:off x="-73245" y="5232813"/>
            <a:ext cx="4663596" cy="6078147"/>
          </a:xfrm>
          <a:custGeom>
            <a:avLst/>
            <a:gdLst/>
            <a:ahLst/>
            <a:cxnLst/>
            <a:rect r="r" b="b" t="t" l="l"/>
            <a:pathLst>
              <a:path h="6078147" w="4663596">
                <a:moveTo>
                  <a:pt x="0" y="0"/>
                </a:moveTo>
                <a:lnTo>
                  <a:pt x="4663597" y="0"/>
                </a:lnTo>
                <a:lnTo>
                  <a:pt x="4663597" y="6078147"/>
                </a:lnTo>
                <a:lnTo>
                  <a:pt x="0" y="6078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706182">
            <a:off x="14011909" y="-230048"/>
            <a:ext cx="5719441" cy="3546054"/>
          </a:xfrm>
          <a:custGeom>
            <a:avLst/>
            <a:gdLst/>
            <a:ahLst/>
            <a:cxnLst/>
            <a:rect r="r" b="b" t="t" l="l"/>
            <a:pathLst>
              <a:path h="3546054" w="5719441">
                <a:moveTo>
                  <a:pt x="0" y="0"/>
                </a:moveTo>
                <a:lnTo>
                  <a:pt x="5719441" y="0"/>
                </a:lnTo>
                <a:lnTo>
                  <a:pt x="5719441" y="3546053"/>
                </a:lnTo>
                <a:lnTo>
                  <a:pt x="0" y="35460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1701" y="8991724"/>
            <a:ext cx="18691403" cy="3526165"/>
          </a:xfrm>
          <a:custGeom>
            <a:avLst/>
            <a:gdLst/>
            <a:ahLst/>
            <a:cxnLst/>
            <a:rect r="r" b="b" t="t" l="l"/>
            <a:pathLst>
              <a:path h="3526165" w="18691403">
                <a:moveTo>
                  <a:pt x="0" y="0"/>
                </a:moveTo>
                <a:lnTo>
                  <a:pt x="18691402" y="0"/>
                </a:lnTo>
                <a:lnTo>
                  <a:pt x="18691402" y="3526164"/>
                </a:lnTo>
                <a:lnTo>
                  <a:pt x="0" y="3526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06691" y="1264187"/>
            <a:ext cx="13474627" cy="993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6"/>
              </a:lnSpc>
            </a:pPr>
            <a:r>
              <a:rPr lang="en-US" sz="10435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Suíte de Testes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545" y="3222641"/>
            <a:ext cx="6945420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01 | JUnit 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957" y="3725132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88 testes unitários: DndEngineTest (43), CharacterServiceTest (21), DiceServiceTest (15), SpellServiceTest (9). Caixa branca, execução ~731 ms.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7545" y="6231007"/>
            <a:ext cx="6945420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02 | WebMvcTest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6957" y="6733489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15 testes de controller: AuthControllerTest (8) e CharacterControllerTest (7). Spring WebMvcTest + MockMvc, filtros JWT bypassados.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47349" y="3196828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03 | Postman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47349" y="3725132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 testes ao vivo: registro, login, e-mail duplicado, criação de personagem, rolagem 5d20 e histórico. Chamadas HTTP reais.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47349" y="6231007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04 | Playwright E2E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47349" y="6733489"/>
            <a:ext cx="5936009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6 testes E2E em Chromium: autenticação (4), personagem (1), dados (1). Total geral: 115 testes, 0 falhas.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5400000">
            <a:off x="5590243" y="5252451"/>
            <a:ext cx="6959829" cy="2252454"/>
          </a:xfrm>
          <a:custGeom>
            <a:avLst/>
            <a:gdLst/>
            <a:ahLst/>
            <a:cxnLst/>
            <a:rect r="r" b="b" t="t" l="l"/>
            <a:pathLst>
              <a:path h="2252454" w="6959829">
                <a:moveTo>
                  <a:pt x="0" y="0"/>
                </a:moveTo>
                <a:lnTo>
                  <a:pt x="6959829" y="0"/>
                </a:lnTo>
                <a:lnTo>
                  <a:pt x="6959829" y="2252454"/>
                </a:lnTo>
                <a:lnTo>
                  <a:pt x="0" y="22524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58977" y="4763129"/>
            <a:ext cx="760743" cy="760743"/>
          </a:xfrm>
          <a:custGeom>
            <a:avLst/>
            <a:gdLst/>
            <a:ahLst/>
            <a:cxnLst/>
            <a:rect r="r" b="b" t="t" l="l"/>
            <a:pathLst>
              <a:path h="760743" w="760743">
                <a:moveTo>
                  <a:pt x="0" y="0"/>
                </a:moveTo>
                <a:lnTo>
                  <a:pt x="760743" y="0"/>
                </a:lnTo>
                <a:lnTo>
                  <a:pt x="760743" y="760742"/>
                </a:lnTo>
                <a:lnTo>
                  <a:pt x="0" y="760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43881" y="4944875"/>
            <a:ext cx="397250" cy="397250"/>
          </a:xfrm>
          <a:custGeom>
            <a:avLst/>
            <a:gdLst/>
            <a:ahLst/>
            <a:cxnLst/>
            <a:rect r="r" b="b" t="t" l="l"/>
            <a:pathLst>
              <a:path h="397250" w="397250">
                <a:moveTo>
                  <a:pt x="0" y="0"/>
                </a:moveTo>
                <a:lnTo>
                  <a:pt x="397250" y="0"/>
                </a:lnTo>
                <a:lnTo>
                  <a:pt x="397250" y="397250"/>
                </a:lnTo>
                <a:lnTo>
                  <a:pt x="0" y="39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37566" y="4944875"/>
            <a:ext cx="397250" cy="397250"/>
          </a:xfrm>
          <a:custGeom>
            <a:avLst/>
            <a:gdLst/>
            <a:ahLst/>
            <a:cxnLst/>
            <a:rect r="r" b="b" t="t" l="l"/>
            <a:pathLst>
              <a:path h="397250" w="397250">
                <a:moveTo>
                  <a:pt x="0" y="0"/>
                </a:moveTo>
                <a:lnTo>
                  <a:pt x="397250" y="0"/>
                </a:lnTo>
                <a:lnTo>
                  <a:pt x="397250" y="397250"/>
                </a:lnTo>
                <a:lnTo>
                  <a:pt x="0" y="39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09942" y="2385188"/>
            <a:ext cx="9672638" cy="136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67"/>
              </a:lnSpc>
            </a:pPr>
            <a:r>
              <a:rPr lang="en-US" sz="11063">
                <a:solidFill>
                  <a:srgbClr val="8E2020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Testes Unitários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73488" y="3898963"/>
            <a:ext cx="6531721" cy="124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1"/>
              </a:lnSpc>
            </a:pPr>
            <a:r>
              <a:rPr lang="en-US" sz="5859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JUnit 5 + Mockito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01701" y="8991724"/>
            <a:ext cx="18691403" cy="3526165"/>
          </a:xfrm>
          <a:custGeom>
            <a:avLst/>
            <a:gdLst/>
            <a:ahLst/>
            <a:cxnLst/>
            <a:rect r="r" b="b" t="t" l="l"/>
            <a:pathLst>
              <a:path h="3526165" w="18691403">
                <a:moveTo>
                  <a:pt x="0" y="0"/>
                </a:moveTo>
                <a:lnTo>
                  <a:pt x="18691402" y="0"/>
                </a:lnTo>
                <a:lnTo>
                  <a:pt x="18691402" y="3526164"/>
                </a:lnTo>
                <a:lnTo>
                  <a:pt x="0" y="35261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80228" y="5788066"/>
            <a:ext cx="8763772" cy="3248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88 casos de teste distribuídos em 4 arquivos: </a:t>
            </a:r>
          </a:p>
          <a:p>
            <a:pPr algn="l" marL="538886" indent="-269443" lvl="1">
              <a:lnSpc>
                <a:spcPts val="3744"/>
              </a:lnSpc>
              <a:buFont typeface="Arial"/>
              <a:buChar char="•"/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DndEngineTest (43 testes parametrizados do motor D&amp;D 5e — modificadores, bônus de proficiência, slots de magia)</a:t>
            </a:r>
          </a:p>
          <a:p>
            <a:pPr algn="l" marL="538886" indent="-269443" lvl="1">
              <a:lnSpc>
                <a:spcPts val="3744"/>
              </a:lnSpc>
              <a:buFont typeface="Arial"/>
              <a:buChar char="•"/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CharacterServiceTest (21 testes de serviço com Mockito)</a:t>
            </a:r>
          </a:p>
          <a:p>
            <a:pPr algn="l" marL="538886" indent="-269443" lvl="1">
              <a:lnSpc>
                <a:spcPts val="3744"/>
              </a:lnSpc>
              <a:buFont typeface="Arial"/>
              <a:buChar char="•"/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DiceServiceTest (15 testes de fórmulas de dados) </a:t>
            </a:r>
          </a:p>
          <a:p>
            <a:pPr algn="l" marL="538886" indent="-269443" lvl="1">
              <a:lnSpc>
                <a:spcPts val="3744"/>
              </a:lnSpc>
              <a:buFont typeface="Arial"/>
              <a:buChar char="•"/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SpellServiceTest (9 testes de filtro de magias)</a:t>
            </a:r>
          </a:p>
          <a:p>
            <a:pPr algn="l" marL="538886" indent="-269443" lvl="1">
              <a:lnSpc>
                <a:spcPts val="3744"/>
              </a:lnSpc>
              <a:buFont typeface="Arial"/>
              <a:buChar char="•"/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Cobertura ≥ 80% confirmada via JaCoCo.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156831" y="555377"/>
            <a:ext cx="8332870" cy="10416083"/>
            <a:chOff x="0" y="0"/>
            <a:chExt cx="11110493" cy="138881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10468" cy="13888084"/>
            </a:xfrm>
            <a:custGeom>
              <a:avLst/>
              <a:gdLst/>
              <a:ahLst/>
              <a:cxnLst/>
              <a:rect r="r" b="b" t="t" l="l"/>
              <a:pathLst>
                <a:path h="13888084" w="11110468">
                  <a:moveTo>
                    <a:pt x="11110468" y="11686032"/>
                  </a:moveTo>
                  <a:lnTo>
                    <a:pt x="11110468" y="13888084"/>
                  </a:lnTo>
                  <a:lnTo>
                    <a:pt x="5555234" y="13888084"/>
                  </a:lnTo>
                  <a:lnTo>
                    <a:pt x="0" y="13888084"/>
                  </a:lnTo>
                  <a:lnTo>
                    <a:pt x="0" y="11686032"/>
                  </a:lnTo>
                  <a:cubicBezTo>
                    <a:pt x="0" y="11373231"/>
                    <a:pt x="135001" y="11075797"/>
                    <a:pt x="370586" y="10869930"/>
                  </a:cubicBezTo>
                  <a:lnTo>
                    <a:pt x="370586" y="8883904"/>
                  </a:lnTo>
                  <a:cubicBezTo>
                    <a:pt x="370586" y="8487791"/>
                    <a:pt x="691642" y="8166481"/>
                    <a:pt x="1088009" y="8166481"/>
                  </a:cubicBezTo>
                  <a:cubicBezTo>
                    <a:pt x="651891" y="7177913"/>
                    <a:pt x="551053" y="5948553"/>
                    <a:pt x="567690" y="4878832"/>
                  </a:cubicBezTo>
                  <a:cubicBezTo>
                    <a:pt x="587629" y="3578352"/>
                    <a:pt x="1128776" y="2346452"/>
                    <a:pt x="2054860" y="1434338"/>
                  </a:cubicBezTo>
                  <a:cubicBezTo>
                    <a:pt x="2983103" y="519938"/>
                    <a:pt x="4252595" y="0"/>
                    <a:pt x="5555234" y="0"/>
                  </a:cubicBezTo>
                  <a:cubicBezTo>
                    <a:pt x="6857874" y="0"/>
                    <a:pt x="8127365" y="519938"/>
                    <a:pt x="9055862" y="1434084"/>
                  </a:cubicBezTo>
                  <a:cubicBezTo>
                    <a:pt x="9981946" y="2346579"/>
                    <a:pt x="10522712" y="3578352"/>
                    <a:pt x="10543032" y="4878578"/>
                  </a:cubicBezTo>
                  <a:cubicBezTo>
                    <a:pt x="10559415" y="5948553"/>
                    <a:pt x="10458831" y="7177659"/>
                    <a:pt x="10022840" y="8166227"/>
                  </a:cubicBezTo>
                  <a:cubicBezTo>
                    <a:pt x="10418953" y="8166227"/>
                    <a:pt x="10740263" y="8487283"/>
                    <a:pt x="10740263" y="8883650"/>
                  </a:cubicBezTo>
                  <a:lnTo>
                    <a:pt x="10740263" y="10869676"/>
                  </a:lnTo>
                  <a:cubicBezTo>
                    <a:pt x="10975467" y="11075797"/>
                    <a:pt x="11110468" y="11373231"/>
                    <a:pt x="11110468" y="11686032"/>
                  </a:cubicBezTo>
                  <a:close/>
                </a:path>
              </a:pathLst>
            </a:custGeom>
            <a:blipFill>
              <a:blip r:embed="rId6"/>
              <a:stretch>
                <a:fillRect l="-1503" t="-38142" r="-27099" b="-4475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2224" y="0"/>
            <a:ext cx="10544470" cy="10287000"/>
          </a:xfrm>
          <a:custGeom>
            <a:avLst/>
            <a:gdLst/>
            <a:ahLst/>
            <a:cxnLst/>
            <a:rect r="r" b="b" t="t" l="l"/>
            <a:pathLst>
              <a:path h="10287000" w="10544470">
                <a:moveTo>
                  <a:pt x="0" y="0"/>
                </a:moveTo>
                <a:lnTo>
                  <a:pt x="10544470" y="0"/>
                </a:lnTo>
                <a:lnTo>
                  <a:pt x="105444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97219"/>
            <a:ext cx="7538818" cy="11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Controller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01786" y="1297219"/>
            <a:ext cx="7538818" cy="11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Postman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7616" y="3493189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CT-AUTH | Autenticação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8285" y="400694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8 testes WebMvcTest: registro (201/409/400), login (200/401), refresh token (200/401). Filtros JWT bypassados, validando apenas contratos HTTP.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7616" y="6731908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CT-CHAR | Personagem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78285" y="724566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 testes WebMvcTest: listagem (200), criação (201/400), busca por ID (200/404), exclusão (204). Comportamento da camada web isolado.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76129" y="3493189"/>
            <a:ext cx="7069903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PSMN-AUTH | Login &amp; Registro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51372" y="400694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 testes ao vivo: registro válido (201+token), e-mail duplicado (409), login válido (200+token). Ambiente real com banco de dados.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9861" y="6731908"/>
            <a:ext cx="7542438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PSMN-DICE | Rolagem de Dados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53181" y="724566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 testes ao vivo: 5d20 retorna 5 dados, histórico não vazio (GET /dice/history), criação de personagem completo (POST /characters).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4100">
            <a:off x="9947815" y="5291109"/>
            <a:ext cx="11958857" cy="7293264"/>
          </a:xfrm>
          <a:custGeom>
            <a:avLst/>
            <a:gdLst/>
            <a:ahLst/>
            <a:cxnLst/>
            <a:rect r="r" b="b" t="t" l="l"/>
            <a:pathLst>
              <a:path h="7293264" w="11958857">
                <a:moveTo>
                  <a:pt x="0" y="0"/>
                </a:moveTo>
                <a:lnTo>
                  <a:pt x="11958856" y="0"/>
                </a:lnTo>
                <a:lnTo>
                  <a:pt x="11958856" y="7293264"/>
                </a:lnTo>
                <a:lnTo>
                  <a:pt x="0" y="729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374" r="0" b="-43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8625469" y="-3966458"/>
            <a:ext cx="24142667" cy="15214635"/>
          </a:xfrm>
          <a:custGeom>
            <a:avLst/>
            <a:gdLst/>
            <a:ahLst/>
            <a:cxnLst/>
            <a:rect r="r" b="b" t="t" l="l"/>
            <a:pathLst>
              <a:path h="15214635" w="24142667">
                <a:moveTo>
                  <a:pt x="0" y="0"/>
                </a:moveTo>
                <a:lnTo>
                  <a:pt x="24142667" y="0"/>
                </a:lnTo>
                <a:lnTo>
                  <a:pt x="24142667" y="15214635"/>
                </a:lnTo>
                <a:lnTo>
                  <a:pt x="0" y="1521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422513">
            <a:off x="16453626" y="-25602"/>
            <a:ext cx="3961515" cy="1001183"/>
          </a:xfrm>
          <a:custGeom>
            <a:avLst/>
            <a:gdLst/>
            <a:ahLst/>
            <a:cxnLst/>
            <a:rect r="r" b="b" t="t" l="l"/>
            <a:pathLst>
              <a:path h="1001183" w="3961515">
                <a:moveTo>
                  <a:pt x="0" y="0"/>
                </a:moveTo>
                <a:lnTo>
                  <a:pt x="3961515" y="0"/>
                </a:lnTo>
                <a:lnTo>
                  <a:pt x="3961515" y="1001183"/>
                </a:lnTo>
                <a:lnTo>
                  <a:pt x="0" y="10011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4558" y="474990"/>
            <a:ext cx="1148284" cy="1627722"/>
          </a:xfrm>
          <a:custGeom>
            <a:avLst/>
            <a:gdLst/>
            <a:ahLst/>
            <a:cxnLst/>
            <a:rect r="r" b="b" t="t" l="l"/>
            <a:pathLst>
              <a:path h="1627722" w="1148284">
                <a:moveTo>
                  <a:pt x="0" y="0"/>
                </a:moveTo>
                <a:lnTo>
                  <a:pt x="1148284" y="0"/>
                </a:lnTo>
                <a:lnTo>
                  <a:pt x="1148284" y="1627722"/>
                </a:lnTo>
                <a:lnTo>
                  <a:pt x="0" y="16277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297219"/>
            <a:ext cx="7538818" cy="11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E2E Auth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65849" y="517740"/>
            <a:ext cx="8432006" cy="219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4"/>
              </a:lnSpc>
            </a:pPr>
            <a:r>
              <a:rPr lang="en-US" sz="11963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E2E</a:t>
            </a:r>
          </a:p>
          <a:p>
            <a:pPr algn="ctr">
              <a:lnSpc>
                <a:spcPts val="6428"/>
              </a:lnSpc>
            </a:pPr>
            <a:r>
              <a:rPr lang="en-US" sz="7064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 Personagem &amp; Dados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7616" y="3493189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E2E-AUTH-01/02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8285" y="400694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Login inválido (email+senha errados) e login com senha incorreta — ambos negam acesso. Playwright em Chromium verifica que a tela de login permanece visível.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97616" y="6731908"/>
            <a:ext cx="6600987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E2E-AUTH-03/04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78285" y="724566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Cadastro de nova conta permite acesso automático; login com credenciais válidas concede acesso ao dashboard. Playwright verifica redirecionamento para área logada.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46901" y="3493189"/>
            <a:ext cx="7069903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E2E-CHAR-01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62038" y="4107617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Criar personagem e editar HP para 38 — Playwright preenche formulário, salva e verifica que HP=38 é exibido na ficha.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01786" y="6731908"/>
            <a:ext cx="7542438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E2E-DICE-01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53181" y="7245668"/>
            <a:ext cx="5639638" cy="172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Rolar fórmula 1d20 via interface — Playwright digita a fórmula, aciona o botão de rolagem e verifica que o resultado é exibido com sucesso.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226647" y="8141418"/>
            <a:ext cx="2510695" cy="2259625"/>
          </a:xfrm>
          <a:custGeom>
            <a:avLst/>
            <a:gdLst/>
            <a:ahLst/>
            <a:cxnLst/>
            <a:rect r="r" b="b" t="t" l="l"/>
            <a:pathLst>
              <a:path h="2259625" w="2510695">
                <a:moveTo>
                  <a:pt x="0" y="0"/>
                </a:moveTo>
                <a:lnTo>
                  <a:pt x="2510694" y="0"/>
                </a:lnTo>
                <a:lnTo>
                  <a:pt x="2510694" y="2259625"/>
                </a:lnTo>
                <a:lnTo>
                  <a:pt x="0" y="2259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3610" y="2426312"/>
            <a:ext cx="760743" cy="760743"/>
          </a:xfrm>
          <a:custGeom>
            <a:avLst/>
            <a:gdLst/>
            <a:ahLst/>
            <a:cxnLst/>
            <a:rect r="r" b="b" t="t" l="l"/>
            <a:pathLst>
              <a:path h="760743" w="760743">
                <a:moveTo>
                  <a:pt x="0" y="0"/>
                </a:moveTo>
                <a:lnTo>
                  <a:pt x="760742" y="0"/>
                </a:lnTo>
                <a:lnTo>
                  <a:pt x="760742" y="760742"/>
                </a:lnTo>
                <a:lnTo>
                  <a:pt x="0" y="760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48523" y="2608058"/>
            <a:ext cx="397250" cy="397250"/>
          </a:xfrm>
          <a:custGeom>
            <a:avLst/>
            <a:gdLst/>
            <a:ahLst/>
            <a:cxnLst/>
            <a:rect r="r" b="b" t="t" l="l"/>
            <a:pathLst>
              <a:path h="397250" w="397250">
                <a:moveTo>
                  <a:pt x="0" y="0"/>
                </a:moveTo>
                <a:lnTo>
                  <a:pt x="397250" y="0"/>
                </a:lnTo>
                <a:lnTo>
                  <a:pt x="397250" y="397250"/>
                </a:lnTo>
                <a:lnTo>
                  <a:pt x="0" y="39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142199" y="2608058"/>
            <a:ext cx="397250" cy="397250"/>
          </a:xfrm>
          <a:custGeom>
            <a:avLst/>
            <a:gdLst/>
            <a:ahLst/>
            <a:cxnLst/>
            <a:rect r="r" b="b" t="t" l="l"/>
            <a:pathLst>
              <a:path h="397250" w="397250">
                <a:moveTo>
                  <a:pt x="0" y="0"/>
                </a:moveTo>
                <a:lnTo>
                  <a:pt x="397249" y="0"/>
                </a:lnTo>
                <a:lnTo>
                  <a:pt x="397249" y="397250"/>
                </a:lnTo>
                <a:lnTo>
                  <a:pt x="0" y="397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2966" r="0" b="2966"/>
          <a:stretch>
            <a:fillRect/>
          </a:stretch>
        </p:blipFill>
        <p:spPr>
          <a:xfrm flipH="false" flipV="false" rot="0">
            <a:off x="725000" y="0"/>
            <a:ext cx="1683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94100">
            <a:off x="9947815" y="5291109"/>
            <a:ext cx="11958857" cy="7293264"/>
          </a:xfrm>
          <a:custGeom>
            <a:avLst/>
            <a:gdLst/>
            <a:ahLst/>
            <a:cxnLst/>
            <a:rect r="r" b="b" t="t" l="l"/>
            <a:pathLst>
              <a:path h="7293264" w="11958857">
                <a:moveTo>
                  <a:pt x="0" y="0"/>
                </a:moveTo>
                <a:lnTo>
                  <a:pt x="11958856" y="0"/>
                </a:lnTo>
                <a:lnTo>
                  <a:pt x="11958856" y="7293264"/>
                </a:lnTo>
                <a:lnTo>
                  <a:pt x="0" y="72932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374" r="0" b="-437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282900">
            <a:off x="-2906001" y="-1191635"/>
            <a:ext cx="8063417" cy="5469226"/>
          </a:xfrm>
          <a:custGeom>
            <a:avLst/>
            <a:gdLst/>
            <a:ahLst/>
            <a:cxnLst/>
            <a:rect r="r" b="b" t="t" l="l"/>
            <a:pathLst>
              <a:path h="5469226" w="8063417">
                <a:moveTo>
                  <a:pt x="0" y="0"/>
                </a:moveTo>
                <a:lnTo>
                  <a:pt x="8063417" y="0"/>
                </a:lnTo>
                <a:lnTo>
                  <a:pt x="8063417" y="5469227"/>
                </a:lnTo>
                <a:lnTo>
                  <a:pt x="0" y="546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872" r="0" b="-387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9305" y="565398"/>
            <a:ext cx="7069430" cy="9566927"/>
            <a:chOff x="0" y="0"/>
            <a:chExt cx="9425907" cy="12755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2801535" y="3772138"/>
              <a:ext cx="4622555" cy="8983764"/>
            </a:xfrm>
            <a:custGeom>
              <a:avLst/>
              <a:gdLst/>
              <a:ahLst/>
              <a:cxnLst/>
              <a:rect r="r" b="b" t="t" l="l"/>
              <a:pathLst>
                <a:path h="8983764" w="4622555">
                  <a:moveTo>
                    <a:pt x="0" y="0"/>
                  </a:moveTo>
                  <a:lnTo>
                    <a:pt x="4622555" y="0"/>
                  </a:lnTo>
                  <a:lnTo>
                    <a:pt x="4622555" y="8983764"/>
                  </a:lnTo>
                  <a:lnTo>
                    <a:pt x="0" y="8983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1719743">
              <a:off x="1640014" y="958742"/>
              <a:ext cx="6145879" cy="8408541"/>
            </a:xfrm>
            <a:custGeom>
              <a:avLst/>
              <a:gdLst/>
              <a:ahLst/>
              <a:cxnLst/>
              <a:rect r="r" b="b" t="t" l="l"/>
              <a:pathLst>
                <a:path h="8408541" w="6145879">
                  <a:moveTo>
                    <a:pt x="6145879" y="0"/>
                  </a:moveTo>
                  <a:lnTo>
                    <a:pt x="0" y="0"/>
                  </a:lnTo>
                  <a:lnTo>
                    <a:pt x="0" y="8408541"/>
                  </a:lnTo>
                  <a:lnTo>
                    <a:pt x="6145879" y="8408541"/>
                  </a:lnTo>
                  <a:lnTo>
                    <a:pt x="6145879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797233" y="1543050"/>
            <a:ext cx="8249564" cy="207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4"/>
              </a:lnSpc>
            </a:pPr>
            <a:r>
              <a:rPr lang="en-US" sz="9675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Resultados dos Testes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97233" y="4551474"/>
            <a:ext cx="8249564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115 / 115 Passou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97233" y="5079778"/>
            <a:ext cx="7715650" cy="13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Todos os 115 casos passaram: 88 unitários + 15 controller + 6 Postman + 6 E2E. Cobertura ≥ 80% validada via JaCoCo. Execução total do backend ~731 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97233" y="7120995"/>
            <a:ext cx="8249564" cy="41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sz="4398">
                <a:solidFill>
                  <a:srgbClr val="101111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0 Falhas · 100%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97233" y="7649299"/>
            <a:ext cx="7715650" cy="130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3"/>
              </a:lnSpc>
            </a:pPr>
            <a:r>
              <a:rPr lang="en-US" sz="2228">
                <a:solidFill>
                  <a:srgbClr val="10111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Nenhuma falha ou regressão detectada. Contratos de API, lógica D&amp;D 5e e fluxos End-to-End 100% conformes com as histórias de usuário.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88838" y="5466207"/>
            <a:ext cx="760743" cy="760743"/>
          </a:xfrm>
          <a:custGeom>
            <a:avLst/>
            <a:gdLst/>
            <a:ahLst/>
            <a:cxnLst/>
            <a:rect r="r" b="b" t="t" l="l"/>
            <a:pathLst>
              <a:path h="760743" w="760743">
                <a:moveTo>
                  <a:pt x="0" y="0"/>
                </a:moveTo>
                <a:lnTo>
                  <a:pt x="760742" y="0"/>
                </a:lnTo>
                <a:lnTo>
                  <a:pt x="760742" y="760743"/>
                </a:lnTo>
                <a:lnTo>
                  <a:pt x="0" y="760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73742" y="5647954"/>
            <a:ext cx="397250" cy="397250"/>
          </a:xfrm>
          <a:custGeom>
            <a:avLst/>
            <a:gdLst/>
            <a:ahLst/>
            <a:cxnLst/>
            <a:rect r="r" b="b" t="t" l="l"/>
            <a:pathLst>
              <a:path h="397250" w="397250">
                <a:moveTo>
                  <a:pt x="0" y="0"/>
                </a:moveTo>
                <a:lnTo>
                  <a:pt x="397249" y="0"/>
                </a:lnTo>
                <a:lnTo>
                  <a:pt x="397249" y="397249"/>
                </a:lnTo>
                <a:lnTo>
                  <a:pt x="0" y="397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67427" y="5647954"/>
            <a:ext cx="397250" cy="397250"/>
          </a:xfrm>
          <a:custGeom>
            <a:avLst/>
            <a:gdLst/>
            <a:ahLst/>
            <a:cxnLst/>
            <a:rect r="r" b="b" t="t" l="l"/>
            <a:pathLst>
              <a:path h="397250" w="397250">
                <a:moveTo>
                  <a:pt x="0" y="0"/>
                </a:moveTo>
                <a:lnTo>
                  <a:pt x="397249" y="0"/>
                </a:lnTo>
                <a:lnTo>
                  <a:pt x="397249" y="397249"/>
                </a:lnTo>
                <a:lnTo>
                  <a:pt x="0" y="397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19021" y="2239185"/>
            <a:ext cx="8500367" cy="11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8E2020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Conclusão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58566" y="4632865"/>
            <a:ext cx="8621287" cy="56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1"/>
              </a:lnSpc>
            </a:pPr>
            <a:r>
              <a:rPr lang="en-US" sz="5859">
                <a:solidFill>
                  <a:srgbClr val="2E1F13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Lições Aprendidas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70428" y="6339640"/>
            <a:ext cx="5797553" cy="239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sz="2496">
                <a:solidFill>
                  <a:srgbClr val="2E1F1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115 testes, 100% aprovados, 0 falhas, cobertura ≥ 80%. Estratégia em múltiplos níveis aumenta a confiança. Lições: planejar testes cedo, usar POM no Playwright, fixar JDK 21.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01701" y="9258300"/>
            <a:ext cx="18691403" cy="3526165"/>
          </a:xfrm>
          <a:custGeom>
            <a:avLst/>
            <a:gdLst/>
            <a:ahLst/>
            <a:cxnLst/>
            <a:rect r="r" b="b" t="t" l="l"/>
            <a:pathLst>
              <a:path h="3526165" w="18691403">
                <a:moveTo>
                  <a:pt x="0" y="0"/>
                </a:moveTo>
                <a:lnTo>
                  <a:pt x="18691402" y="0"/>
                </a:lnTo>
                <a:lnTo>
                  <a:pt x="18691402" y="3526165"/>
                </a:lnTo>
                <a:lnTo>
                  <a:pt x="0" y="35261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00138">
            <a:off x="626309" y="2254467"/>
            <a:ext cx="6637199" cy="3065179"/>
          </a:xfrm>
          <a:custGeom>
            <a:avLst/>
            <a:gdLst/>
            <a:ahLst/>
            <a:cxnLst/>
            <a:rect r="r" b="b" t="t" l="l"/>
            <a:pathLst>
              <a:path h="3065179" w="6637199">
                <a:moveTo>
                  <a:pt x="0" y="0"/>
                </a:moveTo>
                <a:lnTo>
                  <a:pt x="6637199" y="0"/>
                </a:lnTo>
                <a:lnTo>
                  <a:pt x="6637199" y="3065179"/>
                </a:lnTo>
                <a:lnTo>
                  <a:pt x="0" y="30651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016581" y="3600405"/>
            <a:ext cx="5032309" cy="6136962"/>
          </a:xfrm>
          <a:custGeom>
            <a:avLst/>
            <a:gdLst/>
            <a:ahLst/>
            <a:cxnLst/>
            <a:rect r="r" b="b" t="t" l="l"/>
            <a:pathLst>
              <a:path h="6136962" w="5032309">
                <a:moveTo>
                  <a:pt x="0" y="0"/>
                </a:moveTo>
                <a:lnTo>
                  <a:pt x="5032310" y="0"/>
                </a:lnTo>
                <a:lnTo>
                  <a:pt x="5032310" y="6136962"/>
                </a:lnTo>
                <a:lnTo>
                  <a:pt x="0" y="61369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631200">
            <a:off x="7254594" y="442373"/>
            <a:ext cx="2949115" cy="2482619"/>
          </a:xfrm>
          <a:custGeom>
            <a:avLst/>
            <a:gdLst/>
            <a:ahLst/>
            <a:cxnLst/>
            <a:rect r="r" b="b" t="t" l="l"/>
            <a:pathLst>
              <a:path h="2482619" w="2949115">
                <a:moveTo>
                  <a:pt x="0" y="0"/>
                </a:moveTo>
                <a:lnTo>
                  <a:pt x="2949115" y="0"/>
                </a:lnTo>
                <a:lnTo>
                  <a:pt x="2949115" y="2482619"/>
                </a:lnTo>
                <a:lnTo>
                  <a:pt x="0" y="24826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C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433920">
            <a:off x="11680415" y="2668670"/>
            <a:ext cx="7231704" cy="8184032"/>
          </a:xfrm>
          <a:custGeom>
            <a:avLst/>
            <a:gdLst/>
            <a:ahLst/>
            <a:cxnLst/>
            <a:rect r="r" b="b" t="t" l="l"/>
            <a:pathLst>
              <a:path h="8184032" w="7231704">
                <a:moveTo>
                  <a:pt x="7231704" y="0"/>
                </a:moveTo>
                <a:lnTo>
                  <a:pt x="0" y="0"/>
                </a:lnTo>
                <a:lnTo>
                  <a:pt x="0" y="8184033"/>
                </a:lnTo>
                <a:lnTo>
                  <a:pt x="7231704" y="8184033"/>
                </a:lnTo>
                <a:lnTo>
                  <a:pt x="723170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" t="0" r="-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89838" y="3297364"/>
            <a:ext cx="6708324" cy="9786680"/>
          </a:xfrm>
          <a:custGeom>
            <a:avLst/>
            <a:gdLst/>
            <a:ahLst/>
            <a:cxnLst/>
            <a:rect r="r" b="b" t="t" l="l"/>
            <a:pathLst>
              <a:path h="9786680" w="6708324">
                <a:moveTo>
                  <a:pt x="0" y="0"/>
                </a:moveTo>
                <a:lnTo>
                  <a:pt x="6708324" y="0"/>
                </a:lnTo>
                <a:lnTo>
                  <a:pt x="6708324" y="9786681"/>
                </a:lnTo>
                <a:lnTo>
                  <a:pt x="0" y="9786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4" t="0" r="-2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9274" y="1496769"/>
            <a:ext cx="15269451" cy="154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49"/>
              </a:lnSpc>
            </a:pPr>
            <a:r>
              <a:rPr lang="en-US" sz="12363">
                <a:solidFill>
                  <a:srgbClr val="3A4654"/>
                </a:solidFill>
                <a:latin typeface="Berkshire Swash"/>
                <a:ea typeface="Berkshire Swash"/>
                <a:cs typeface="Berkshire Swash"/>
                <a:sym typeface="Berkshire Swash"/>
              </a:rPr>
              <a:t>Obrigado pela atenção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293595">
            <a:off x="2204508" y="2216712"/>
            <a:ext cx="2725744" cy="10863473"/>
          </a:xfrm>
          <a:custGeom>
            <a:avLst/>
            <a:gdLst/>
            <a:ahLst/>
            <a:cxnLst/>
            <a:rect r="r" b="b" t="t" l="l"/>
            <a:pathLst>
              <a:path h="10863473" w="2725744">
                <a:moveTo>
                  <a:pt x="0" y="0"/>
                </a:moveTo>
                <a:lnTo>
                  <a:pt x="2725744" y="0"/>
                </a:lnTo>
                <a:lnTo>
                  <a:pt x="2725744" y="10863473"/>
                </a:lnTo>
                <a:lnTo>
                  <a:pt x="0" y="10863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DAHLQ9BTBVo</dc:identifier>
  <dcterms:modified xsi:type="dcterms:W3CDTF">2011-08-01T06:04:30Z</dcterms:modified>
  <cp:revision>1</cp:revision>
  <dc:title>Teste de Software ROllCore</dc:title>
</cp:coreProperties>
</file>